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F157A1-2F74-4B86-90B0-94E58D31A11F}">
  <a:tblStyle styleId="{A2F157A1-2F74-4B86-90B0-94E58D31A1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e42433dc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e42433dc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e42433dc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e42433dc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e42433dc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e42433dc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e42433dc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e42433dc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e42433dc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e42433dc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e42433dc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e42433dc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e42433dc9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e42433dc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e42433dc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e42433dc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e42433dc9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e42433dc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e42433dc9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e42433dc9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5e42433dc9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5e42433dc9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e42433dc9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e42433dc9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e42433dc9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e42433dc9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e42433dc9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e42433dc9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e42433dc9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5e42433dc9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e42433dc9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e42433dc9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e42433dc9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e42433dc9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e42433dc9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5e42433dc9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e42433dc9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5e42433dc9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5e42433dc9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5e42433dc9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058150"/>
            <a:ext cx="8520600" cy="111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ROAD SIGN DETECTION USING MAMBA TRANSFORMER</a:t>
            </a:r>
            <a:endParaRPr sz="3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260450"/>
            <a:ext cx="8520600" cy="4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A Deep Learning Approach for Real-Time Road Sign Detection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590"/>
          </a:p>
        </p:txBody>
      </p:sp>
      <p:pic>
        <p:nvPicPr>
          <p:cNvPr id="56" name="Google Shape;56;p13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20225" y="2947775"/>
            <a:ext cx="4042200" cy="16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DHANASEKAREN  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(412321104005)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HEMANTH               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(412321104019)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R. KARTHI		        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(412321104027)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065625" y="2947775"/>
            <a:ext cx="3568200" cy="16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Mrs. K. Lakshmi, M.E.,  Asst.Prof.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 Ramanujar Engineering College, Kolapakkam, Vandalur ,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Chennnai – 600127.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10524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3600"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929700"/>
            <a:ext cx="8520600" cy="26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Developed a real-time traffic sign detection system using YOLOv5 and a custom </a:t>
            </a:r>
            <a:r>
              <a:rPr lang="en"/>
              <a:t>M</a:t>
            </a:r>
            <a:r>
              <a:rPr lang="en"/>
              <a:t>amba Transformer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YOLOv5 detects signs; Mamba Transformer classifies them with improved accuracy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Achieves robust performance under real-world conditions with faster and efficient prediction.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4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984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Times New Roman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Objectives Achieved</a:t>
            </a:r>
            <a:endParaRPr sz="3600"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2000625"/>
            <a:ext cx="8520600" cy="23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</a:t>
            </a:r>
            <a:r>
              <a:rPr b="1" lang="en">
                <a:solidFill>
                  <a:schemeClr val="dk1"/>
                </a:solidFill>
              </a:rPr>
              <a:t>Mamba Transformer</a:t>
            </a:r>
            <a:r>
              <a:rPr lang="en"/>
              <a:t> and </a:t>
            </a:r>
            <a:r>
              <a:rPr b="1" lang="en">
                <a:solidFill>
                  <a:schemeClr val="dk1"/>
                </a:solidFill>
              </a:rPr>
              <a:t>CNN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/>
              <a:t>to compare and classify road signs.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Leveraged </a:t>
            </a:r>
            <a:r>
              <a:rPr b="1" lang="en">
                <a:solidFill>
                  <a:schemeClr val="dk1"/>
                </a:solidFill>
              </a:rPr>
              <a:t>CUDA GPU acceleration</a:t>
            </a:r>
            <a:r>
              <a:rPr lang="en"/>
              <a:t> to train models efficiently.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Built a </a:t>
            </a:r>
            <a:r>
              <a:rPr b="1" lang="en">
                <a:solidFill>
                  <a:schemeClr val="dk1"/>
                </a:solidFill>
              </a:rPr>
              <a:t>PyQt5 GUI</a:t>
            </a:r>
            <a:r>
              <a:rPr lang="en"/>
              <a:t> with both light and dark themes for user-friendly visualization.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Captured live video using </a:t>
            </a:r>
            <a:r>
              <a:rPr b="1" lang="en">
                <a:solidFill>
                  <a:schemeClr val="dk1"/>
                </a:solidFill>
              </a:rPr>
              <a:t>OpenCV</a:t>
            </a:r>
            <a:r>
              <a:rPr lang="en"/>
              <a:t> from both laptop and mobile cameras.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Successfully implemented </a:t>
            </a:r>
            <a:r>
              <a:rPr b="1" lang="en">
                <a:solidFill>
                  <a:schemeClr val="dk1"/>
                </a:solidFill>
              </a:rPr>
              <a:t>YOLOv5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/>
              <a:t>for real-time road sign detection.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Logged detections and visualized analytics with </a:t>
            </a:r>
            <a:r>
              <a:rPr b="1" lang="en">
                <a:solidFill>
                  <a:schemeClr val="dk1"/>
                </a:solidFill>
              </a:rPr>
              <a:t>Matplotlib</a:t>
            </a:r>
            <a:r>
              <a:rPr lang="en"/>
              <a:t> graphs.</a:t>
            </a:r>
            <a:endParaRPr/>
          </a:p>
        </p:txBody>
      </p:sp>
      <p:pic>
        <p:nvPicPr>
          <p:cNvPr id="74" name="Google Shape;74;p15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899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507200"/>
            <a:ext cx="8520600" cy="3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889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"You Only Look Once: Unified, Real-Time Object Detection" (YOLO)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Author: Joseph Redmon et al., 2016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Introduced the YOLO architecture enabling fast and accurate detection, widely adopted in autonomous driving.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4889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"Traffic Sign Recognition with Deep Convolutional Neural Networks"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Author: Ciresan et al., 2012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Demonstrated deep CNNs can significantly improve traffic sign classification accuracy over traditional methods.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4889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“YOLOv5: Real-Time Object Detection with Enhanced Speed and Accuracy”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Author: Glenn Jocher et al.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Introduced a highly efficient real-time object detection model widely used for traffic sign and road object detection, known for balancing accuracy with computational speed.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6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821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507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Traditional methods rely on color and shape detection — </a:t>
            </a:r>
            <a:r>
              <a:rPr b="1" lang="en">
                <a:solidFill>
                  <a:schemeClr val="dk1"/>
                </a:solidFill>
              </a:rPr>
              <a:t>limited accuracy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/>
              <a:t>in complex scenes.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CNN-based models </a:t>
            </a:r>
            <a:r>
              <a:rPr lang="en">
                <a:solidFill>
                  <a:schemeClr val="dk1"/>
                </a:solidFill>
              </a:rPr>
              <a:t>(e.g., </a:t>
            </a:r>
            <a:r>
              <a:rPr b="1" lang="en">
                <a:solidFill>
                  <a:schemeClr val="dk1"/>
                </a:solidFill>
              </a:rPr>
              <a:t>YOLOv3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Faster R-CNN</a:t>
            </a:r>
            <a:r>
              <a:rPr lang="en">
                <a:solidFill>
                  <a:schemeClr val="dk1"/>
                </a:solidFill>
              </a:rPr>
              <a:t>)</a:t>
            </a:r>
            <a:r>
              <a:rPr lang="en"/>
              <a:t> improve detection but require </a:t>
            </a:r>
            <a:r>
              <a:rPr b="1" lang="en">
                <a:solidFill>
                  <a:schemeClr val="dk1"/>
                </a:solidFill>
              </a:rPr>
              <a:t>high computational resources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Transformer-based models offer </a:t>
            </a:r>
            <a:r>
              <a:rPr b="1" lang="en">
                <a:solidFill>
                  <a:schemeClr val="dk1"/>
                </a:solidFill>
              </a:rPr>
              <a:t>better accuracy</a:t>
            </a:r>
            <a:r>
              <a:rPr lang="en"/>
              <a:t> but are often </a:t>
            </a:r>
            <a:r>
              <a:rPr b="1" lang="en">
                <a:solidFill>
                  <a:schemeClr val="dk1"/>
                </a:solidFill>
              </a:rPr>
              <a:t>too heavy</a:t>
            </a:r>
            <a:r>
              <a:rPr lang="en"/>
              <a:t> for real-time or embedded applications.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current systems </a:t>
            </a:r>
            <a:r>
              <a:rPr b="1" lang="en">
                <a:solidFill>
                  <a:schemeClr val="dk1"/>
                </a:solidFill>
              </a:rPr>
              <a:t>fail in real-time performance</a:t>
            </a:r>
            <a:r>
              <a:rPr lang="en"/>
              <a:t> on low-power or edge devices — limiting use in autonomous driving.</a:t>
            </a:r>
            <a:endParaRPr/>
          </a:p>
        </p:txBody>
      </p:sp>
      <p:pic>
        <p:nvPicPr>
          <p:cNvPr id="90" name="Google Shape;90;p17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88023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Times New Roman"/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514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Unlike traditional Transformers, </a:t>
            </a:r>
            <a:r>
              <a:rPr b="1" lang="en" sz="1700">
                <a:solidFill>
                  <a:schemeClr val="dk1"/>
                </a:solidFill>
              </a:rPr>
              <a:t>Mamba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700"/>
              <a:t>replaces attention with lightweight operations, making it suitable for </a:t>
            </a:r>
            <a:r>
              <a:rPr b="1" lang="en" sz="1700">
                <a:solidFill>
                  <a:schemeClr val="dk1"/>
                </a:solidFill>
              </a:rPr>
              <a:t>real-time road sign detection</a:t>
            </a:r>
            <a:r>
              <a:rPr lang="en" sz="1700"/>
              <a:t> on edge devices.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Uses </a:t>
            </a:r>
            <a:r>
              <a:rPr b="1" lang="en" sz="1700">
                <a:solidFill>
                  <a:schemeClr val="dk1"/>
                </a:solidFill>
              </a:rPr>
              <a:t>YOLOv5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700"/>
              <a:t>for fast and reliable </a:t>
            </a:r>
            <a:r>
              <a:rPr b="1" lang="en" sz="1700">
                <a:solidFill>
                  <a:schemeClr val="dk1"/>
                </a:solidFill>
              </a:rPr>
              <a:t>real-time road sign detection</a:t>
            </a:r>
            <a:r>
              <a:rPr lang="en" sz="1700"/>
              <a:t> in varying environments.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Implements </a:t>
            </a:r>
            <a:r>
              <a:rPr b="1" lang="en" sz="1700">
                <a:solidFill>
                  <a:schemeClr val="dk1"/>
                </a:solidFill>
              </a:rPr>
              <a:t>mixed-precision training</a:t>
            </a:r>
            <a:r>
              <a:rPr lang="en" sz="1700"/>
              <a:t> and </a:t>
            </a:r>
            <a:r>
              <a:rPr b="1" lang="en" sz="1700">
                <a:solidFill>
                  <a:schemeClr val="dk1"/>
                </a:solidFill>
              </a:rPr>
              <a:t>optimized data pipelines</a:t>
            </a:r>
            <a:r>
              <a:rPr lang="en" sz="1700"/>
              <a:t> to boost speed without compromising accuracy.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Built with </a:t>
            </a:r>
            <a:r>
              <a:rPr b="1" lang="en" sz="1700">
                <a:solidFill>
                  <a:schemeClr val="dk1"/>
                </a:solidFill>
              </a:rPr>
              <a:t>PyTorch + OpenCV</a:t>
            </a:r>
            <a:r>
              <a:rPr lang="en" sz="1700"/>
              <a:t> and runs on </a:t>
            </a:r>
            <a:r>
              <a:rPr b="1" lang="en" sz="1700">
                <a:solidFill>
                  <a:schemeClr val="dk1"/>
                </a:solidFill>
              </a:rPr>
              <a:t>GPU (CUDA)</a:t>
            </a:r>
            <a:r>
              <a:rPr lang="en" sz="1700"/>
              <a:t> for efficient processing.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Captures detection logs and analytics with </a:t>
            </a:r>
            <a:r>
              <a:rPr b="1" lang="en" sz="1700">
                <a:solidFill>
                  <a:schemeClr val="dk1"/>
                </a:solidFill>
              </a:rPr>
              <a:t>Matplotlib</a:t>
            </a:r>
            <a:r>
              <a:rPr lang="en" sz="1700"/>
              <a:t> graphs for future insights.</a:t>
            </a:r>
            <a:endParaRPr sz="1700"/>
          </a:p>
        </p:txBody>
      </p:sp>
      <p:pic>
        <p:nvPicPr>
          <p:cNvPr id="98" name="Google Shape;98;p18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875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Times New Roman"/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Software Requirements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5760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143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Windows 10 or above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Python 3.8+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Libraries &amp; Frameworks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•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PyTorch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•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OpenCV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•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YOLOv5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•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Mamba Transformer (custom model code)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•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NumPy, Matplotlib, Torchvision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19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269150" y="94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Hardware Requirements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269150" y="1672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651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Intel Core i5 or higher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Minimum 8 GB (16 GB recommended for training)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GPU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NVIDIA GPU with CUDA support (e.g., GTX 1650 or higher)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At least 10 GB of free space</a:t>
            </a:r>
            <a:endParaRPr/>
          </a:p>
        </p:txBody>
      </p:sp>
      <p:pic>
        <p:nvPicPr>
          <p:cNvPr id="114" name="Google Shape;114;p20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877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Technologies Used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544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500">
                <a:solidFill>
                  <a:schemeClr val="dk1"/>
                </a:solidFill>
              </a:rPr>
              <a:t>Python 3.8+</a:t>
            </a:r>
            <a:r>
              <a:rPr lang="en" sz="5500">
                <a:solidFill>
                  <a:schemeClr val="dk1"/>
                </a:solidFill>
              </a:rPr>
              <a:t> – </a:t>
            </a:r>
            <a:r>
              <a:rPr lang="en" sz="5500"/>
              <a:t>Core programming language for development</a:t>
            </a:r>
            <a:br>
              <a:rPr lang="en" sz="5500"/>
            </a:br>
            <a:endParaRPr sz="5500"/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500">
                <a:solidFill>
                  <a:schemeClr val="dk1"/>
                </a:solidFill>
              </a:rPr>
              <a:t>YOLOv5</a:t>
            </a:r>
            <a:r>
              <a:rPr lang="en" sz="5500">
                <a:solidFill>
                  <a:schemeClr val="dk1"/>
                </a:solidFill>
              </a:rPr>
              <a:t> – </a:t>
            </a:r>
            <a:r>
              <a:rPr lang="en" sz="5500"/>
              <a:t>Real-time object detection (for locating road signs)</a:t>
            </a:r>
            <a:br>
              <a:rPr lang="en" sz="5500">
                <a:solidFill>
                  <a:schemeClr val="dk1"/>
                </a:solidFill>
              </a:rPr>
            </a:br>
            <a:endParaRPr sz="55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500">
                <a:solidFill>
                  <a:schemeClr val="dk1"/>
                </a:solidFill>
              </a:rPr>
              <a:t>Mamba Transformer</a:t>
            </a:r>
            <a:r>
              <a:rPr lang="en" sz="5500">
                <a:solidFill>
                  <a:schemeClr val="dk1"/>
                </a:solidFill>
              </a:rPr>
              <a:t> – </a:t>
            </a:r>
            <a:r>
              <a:rPr lang="en" sz="5500"/>
              <a:t>Lightweight custom transformer for classification</a:t>
            </a:r>
            <a:br>
              <a:rPr lang="en" sz="5500">
                <a:solidFill>
                  <a:schemeClr val="dk1"/>
                </a:solidFill>
              </a:rPr>
            </a:br>
            <a:endParaRPr sz="55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500">
                <a:solidFill>
                  <a:schemeClr val="dk1"/>
                </a:solidFill>
              </a:rPr>
              <a:t>OpenCV</a:t>
            </a:r>
            <a:r>
              <a:rPr lang="en" sz="5500">
                <a:solidFill>
                  <a:schemeClr val="dk1"/>
                </a:solidFill>
              </a:rPr>
              <a:t> – </a:t>
            </a:r>
            <a:r>
              <a:rPr lang="en" sz="5500"/>
              <a:t>Image and video capture, preprocessing, and visualization</a:t>
            </a:r>
            <a:br>
              <a:rPr lang="en" sz="5500">
                <a:solidFill>
                  <a:schemeClr val="dk1"/>
                </a:solidFill>
              </a:rPr>
            </a:br>
            <a:endParaRPr sz="55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500">
                <a:solidFill>
                  <a:schemeClr val="dk1"/>
                </a:solidFill>
              </a:rPr>
              <a:t>PyTorch</a:t>
            </a:r>
            <a:r>
              <a:rPr lang="en" sz="5500">
                <a:solidFill>
                  <a:schemeClr val="dk1"/>
                </a:solidFill>
              </a:rPr>
              <a:t> – </a:t>
            </a:r>
            <a:r>
              <a:rPr lang="en" sz="5500"/>
              <a:t>Deep learning framework used for model training and inference</a:t>
            </a:r>
            <a:br>
              <a:rPr lang="en" sz="5500">
                <a:solidFill>
                  <a:schemeClr val="dk1"/>
                </a:solidFill>
              </a:rPr>
            </a:br>
            <a:endParaRPr sz="55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500">
                <a:solidFill>
                  <a:schemeClr val="dk1"/>
                </a:solidFill>
              </a:rPr>
              <a:t>PyQt5</a:t>
            </a:r>
            <a:r>
              <a:rPr lang="en" sz="5500">
                <a:solidFill>
                  <a:schemeClr val="dk1"/>
                </a:solidFill>
              </a:rPr>
              <a:t> – </a:t>
            </a:r>
            <a:r>
              <a:rPr lang="en" sz="5500"/>
              <a:t>GUI development for interactive interface with theme support</a:t>
            </a:r>
            <a:br>
              <a:rPr lang="en" sz="5500">
                <a:solidFill>
                  <a:schemeClr val="dk1"/>
                </a:solidFill>
              </a:rPr>
            </a:br>
            <a:endParaRPr sz="55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500">
                <a:solidFill>
                  <a:schemeClr val="dk1"/>
                </a:solidFill>
              </a:rPr>
              <a:t>Matplotlib</a:t>
            </a:r>
            <a:r>
              <a:rPr lang="en" sz="5500">
                <a:solidFill>
                  <a:schemeClr val="dk1"/>
                </a:solidFill>
              </a:rPr>
              <a:t> – </a:t>
            </a:r>
            <a:r>
              <a:rPr lang="en" sz="5500"/>
              <a:t>Data visualization and performance analytics</a:t>
            </a:r>
            <a:br>
              <a:rPr lang="en" sz="5500"/>
            </a:br>
            <a:endParaRPr sz="5500"/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500">
                <a:solidFill>
                  <a:schemeClr val="dk1"/>
                </a:solidFill>
              </a:rPr>
              <a:t>CUDA (NVIDIA GPU)</a:t>
            </a:r>
            <a:r>
              <a:rPr lang="en" sz="5500">
                <a:solidFill>
                  <a:schemeClr val="dk1"/>
                </a:solidFill>
              </a:rPr>
              <a:t> – </a:t>
            </a:r>
            <a:r>
              <a:rPr lang="en" sz="5500"/>
              <a:t>Accelerated training and inference using GPU</a:t>
            </a:r>
            <a:endParaRPr sz="5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1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262050" y="874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Class Diagram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t/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 flipH="1" rot="-15251">
            <a:off x="446458" y="1592125"/>
            <a:ext cx="8520684" cy="32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30" name="Google Shape;130;p22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2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" name="Google Shape;132;p22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5250" y="1573225"/>
            <a:ext cx="5611800" cy="336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899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Class Diagram Explanation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11700" y="1587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CameraCapture</a:t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2232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•"/>
            </a:pP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+capture_frame():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ndarray 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– Captures a frame from the camera.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82232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•"/>
            </a:pP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+release_camera():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– Releases the camera after use.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ImagePreprocessor</a:t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2232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•"/>
            </a:pP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+resize(image: ndarray):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ndarray 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– Resizes the image to the required input size.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82232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•"/>
            </a:pP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+to_tensor(image: ndarray):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Tensor 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– Converts the image to tensor format for the model.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YOLOv5Detector</a:t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2232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•"/>
            </a:pP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+load_model(path: str):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– Loads the pre-trained YOLOv5 model.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82232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•"/>
            </a:pP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+detect(image: ndarray):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– Performs object detection on the image.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MambaClassifier</a:t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2232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•"/>
            </a:pP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+load_model(path: str):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– Loads the transformer-based classifier.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82232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•"/>
            </a:pP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+classify(image: ndarray):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 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– Classifies the detected object (e.g., stop sign, speed limit).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CSVLogger</a:t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2232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•"/>
            </a:pP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+log(label: str, confidence: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float, timestamp: str): void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 – Logs the results with details like label, confidence, and time.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ResultDisplay</a:t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2232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•"/>
            </a:pP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+draw_boxes(image: ndarray, detections: List):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ndarray 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– Draws bounding boxes and labels.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82232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•"/>
            </a:pP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+show(image: ndarray):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– Displays the annotated video frame in real-time.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3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3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684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Results &amp; Outputs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679650" y="1256763"/>
            <a:ext cx="1784700" cy="3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/>
              <a:t>Comparison Table</a:t>
            </a:r>
            <a:endParaRPr sz="1500"/>
          </a:p>
        </p:txBody>
      </p:sp>
      <p:pic>
        <p:nvPicPr>
          <p:cNvPr id="147" name="Google Shape;147;p24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9" name="Google Shape;149;p24"/>
          <p:cNvGraphicFramePr/>
          <p:nvPr/>
        </p:nvGraphicFramePr>
        <p:xfrm>
          <a:off x="792875" y="165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{A2F157A1-2F74-4B86-90B0-94E58D31A11F}</a:tableStyleId>
              </a:tblPr>
              <a:tblGrid>
                <a:gridCol w="2163875"/>
                <a:gridCol w="2586075"/>
                <a:gridCol w="2808300"/>
              </a:tblGrid>
              <a:tr h="35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Metric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Traditional CNN / YOLOv3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Proposed (YOLOv5 + Mamba)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Detection 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~85–88%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93.6%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Classification 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~85% Top-1 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91.2% Top-1 Accuracy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FPS (Real-Time)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~15–20 FPS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27–30 FPS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Latency per Frame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60–80 ms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35–40 ms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85–88%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92.5%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84–87%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90.8%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Robustness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Struggles in low light / blur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Stable under poor lighting, occlusion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311700" y="863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Results &amp; Outputs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311700" y="1585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Output: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Bounding boxes and class labels are overlaid on detected signs.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Confidence scores are displayed alongside each label.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 Log File: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 are exported in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CSV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format with label, confidence, and timestamp for each detection.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Robustness: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Successfully tested under various lighting conditions and camera angles.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Handles partial occlusion and blurred signs with reasonable accuracy.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p25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5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311700" y="892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Times New Roman"/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Index of Traffic Sign Classifier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3774275" y="2703000"/>
            <a:ext cx="106500" cy="1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6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6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" name="Google Shape;166;p26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3300" y="1573300"/>
            <a:ext cx="6377400" cy="35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311700" y="828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Output of Traffic Sign Classifier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3667850" y="2887450"/>
            <a:ext cx="7947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7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7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" name="Google Shape;175;p2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3950" y="1536925"/>
            <a:ext cx="6176100" cy="342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311700" y="837699"/>
            <a:ext cx="8520600" cy="10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Output of Real Time Classification using Laptop Cam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8"/>
          <p:cNvSpPr txBox="1"/>
          <p:nvPr>
            <p:ph idx="1" type="body"/>
          </p:nvPr>
        </p:nvSpPr>
        <p:spPr>
          <a:xfrm>
            <a:off x="3497575" y="2683675"/>
            <a:ext cx="167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28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8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4" name="Google Shape;184;p2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9300" y="1941475"/>
            <a:ext cx="5825400" cy="31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311700" y="884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Output of Real Time Classification using Mobile Cam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4015450" y="2454675"/>
            <a:ext cx="6669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9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9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3" name="Google Shape;193;p2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2301" y="1931729"/>
            <a:ext cx="5759400" cy="311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>
            <p:ph type="title"/>
          </p:nvPr>
        </p:nvSpPr>
        <p:spPr>
          <a:xfrm>
            <a:off x="311700" y="918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30"/>
          <p:cNvSpPr txBox="1"/>
          <p:nvPr>
            <p:ph idx="1" type="body"/>
          </p:nvPr>
        </p:nvSpPr>
        <p:spPr>
          <a:xfrm>
            <a:off x="311700" y="1539500"/>
            <a:ext cx="8520600" cy="25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  <a:t>Successfully built a </a:t>
            </a:r>
            <a:r>
              <a:rPr b="1"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road sign detection system</a:t>
            </a:r>
            <a: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  <a:t> using YOLOv5 and Mamba Transformer.</a:t>
            </a:r>
            <a:b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  <a:t>Achieved </a:t>
            </a:r>
            <a:r>
              <a:rPr b="1"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detection accuracy (93.6%)</a:t>
            </a:r>
            <a: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accuracy (91.2%)</a:t>
            </a:r>
            <a:r>
              <a:rPr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  <a:t>Demonstrated </a:t>
            </a:r>
            <a:r>
              <a:rPr b="1"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inference speed</a:t>
            </a:r>
            <a: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b="1"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27–30 FPS</a:t>
            </a:r>
            <a: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  <a:t>, suitable for real-world use.</a:t>
            </a:r>
            <a:b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Mamba Transformer</a:t>
            </a:r>
            <a: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  <a:t> provided efficient classification with </a:t>
            </a:r>
            <a:r>
              <a:rPr b="1"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latency</a:t>
            </a:r>
            <a: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  <a:t> and reduced computational load.</a:t>
            </a:r>
            <a:b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  <a:t>System remained </a:t>
            </a:r>
            <a:r>
              <a:rPr b="1"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in low light, blurred images, and partial occlusion scenarios</a:t>
            </a:r>
            <a:r>
              <a:rPr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  <a:t>Built a </a:t>
            </a:r>
            <a:r>
              <a:rPr b="1"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user-friendly GUI</a:t>
            </a:r>
            <a: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  <a:t> with PyQt5 and live camera support (laptop &amp; mobile).</a:t>
            </a:r>
            <a:b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  <a:t>Logged detections with </a:t>
            </a:r>
            <a:r>
              <a:rPr b="1"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CSV reports and visual analytics</a:t>
            </a:r>
            <a: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  <a:t> using Matplotlib.</a:t>
            </a:r>
            <a:b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  <a:t>System is well-suited for </a:t>
            </a:r>
            <a:r>
              <a:rPr b="1" lang="en" sz="5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devices and future integration</a:t>
            </a:r>
            <a:r>
              <a:rPr lang="en" sz="5500">
                <a:latin typeface="Times New Roman"/>
                <a:ea typeface="Times New Roman"/>
                <a:cs typeface="Times New Roman"/>
                <a:sym typeface="Times New Roman"/>
              </a:rPr>
              <a:t> with autonomous vehicles or smart city systems.</a:t>
            </a:r>
            <a:endParaRPr sz="5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0" name="Google Shape;200;p30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0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311700" y="92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1"/>
          <p:cNvSpPr txBox="1"/>
          <p:nvPr>
            <p:ph idx="1" type="body"/>
          </p:nvPr>
        </p:nvSpPr>
        <p:spPr>
          <a:xfrm>
            <a:off x="311700" y="1665525"/>
            <a:ext cx="8520600" cy="29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651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Integration with IoT for smart traffic monitoring.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Deployment in self-driving cars for autonomous navigation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Augmented Reality (AR) for enhanced driver assistance.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Enable cloud-based analytics for large-scale traffic data monitoring and planning.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TinyML adaptation for ultra-low power devices.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Add multilanguage voice alerts to assist drivers with sign recognition feedback.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31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1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311700" y="913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600"/>
          </a:p>
        </p:txBody>
      </p:sp>
      <p:sp>
        <p:nvSpPr>
          <p:cNvPr id="215" name="Google Shape;215;p32"/>
          <p:cNvSpPr txBox="1"/>
          <p:nvPr>
            <p:ph idx="1" type="body"/>
          </p:nvPr>
        </p:nvSpPr>
        <p:spPr>
          <a:xfrm>
            <a:off x="311700" y="1681400"/>
            <a:ext cx="8520600" cy="28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762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AutoNum type="arabicPeriod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Jocher, G., Stoken, A., Chaurasia, A., et al. — "YOLOv5,"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GitHub Repository and IEEE Preprint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2020.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762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AutoNum type="arabicPeriod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Zhang, H., Wu, C., Zhang, Z., et al. — "Mamba Transformer: Efficient Vision Transformer with Depthwise Separable Convolutions,"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IEEE Access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2023.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762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AutoNum type="arabicPeriod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Li, Y., Chen, Y., Wang, N., et al. — “Mamba Transformer: Efficient Transformer for Visual Recognition,”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IEEE Transactions on Neural Networks and Learning Systems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2023.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762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AutoNum type="arabicPeriod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Li, W., Chen, K., Zhang, Y., &amp; Wang, X. “Traffic Sign Recognition Based on Lightweight Transformer and Convolutional Neural Networks”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IEEE Transactions on Intelligent Transportation Systems, vol. 23, no. 4, 2022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pp. 3497-3508.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6" name="Google Shape;216;p32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2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9648400" y="1402775"/>
            <a:ext cx="312300" cy="2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3"/>
          <p:cNvSpPr txBox="1"/>
          <p:nvPr>
            <p:ph idx="1" type="body"/>
          </p:nvPr>
        </p:nvSpPr>
        <p:spPr>
          <a:xfrm>
            <a:off x="311700" y="1802000"/>
            <a:ext cx="8520600" cy="27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" sz="6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p33" title="clg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350"/>
            <a:ext cx="3988678" cy="6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3"/>
          <p:cNvSpPr txBox="1"/>
          <p:nvPr/>
        </p:nvSpPr>
        <p:spPr>
          <a:xfrm>
            <a:off x="4462425" y="87026"/>
            <a:ext cx="44199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